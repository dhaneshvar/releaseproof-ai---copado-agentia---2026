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7B0A6"/>
                </a:solidFill>
                <a:latin typeface="Aptos"/>
              </a:rPr>
              <a:t>RELEASEPROOF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739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0A6"/>
                </a:solidFill>
                <a:latin typeface="Aptos"/>
              </a:rPr>
              <a:t>HACKATHON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7FF3C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1E8"/>
                </a:solidFill>
                <a:latin typeface="Aptos"/>
              </a:rPr>
              <a:t>Every release should</a:t>
            </a:r>
          </a:p>
          <a:p>
            <a:pPr algn="l"/>
            <a:r>
              <a:rPr sz="3000" b="1">
                <a:solidFill>
                  <a:srgbClr val="F5F1E8"/>
                </a:solidFill>
                <a:latin typeface="Aptos"/>
              </a:rPr>
              <a:t>show its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803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B7FF3C"/>
                </a:solidFill>
                <a:latin typeface="Aptos"/>
              </a:rPr>
              <a:t>ReleaseProof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4564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7B0A6"/>
                </a:solidFill>
                <a:latin typeface="Aptos"/>
              </a:rPr>
              <a:t>Evidence-driven release intelligence for Copado Agentia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960120"/>
            <a:ext cx="3337560" cy="438912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3716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7B0A6"/>
                </a:solidFill>
                <a:latin typeface="Aptos"/>
              </a:rPr>
              <a:t>RELEASE</a:t>
            </a:r>
          </a:p>
          <a:p>
            <a:pPr algn="l"/>
            <a:r>
              <a:rPr sz="1300" b="1">
                <a:solidFill>
                  <a:srgbClr val="B7B0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031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8066"/>
                </a:solidFill>
                <a:latin typeface="Aptos"/>
              </a:rPr>
              <a:t>INSUFFICIENT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92440" y="2651760"/>
            <a:ext cx="2624328" cy="0"/>
          </a:xfrm>
          <a:prstGeom prst="line">
            <a:avLst/>
          </a:prstGeom>
          <a:ln w="8890">
            <a:solidFill>
              <a:srgbClr val="B7B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92440" y="297180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1E8"/>
                </a:solidFill>
                <a:latin typeface="Aptos"/>
              </a:rPr>
              <a:t>Boundary case missing</a:t>
            </a:r>
          </a:p>
          <a:p>
            <a:pPr algn="l"/>
            <a:r>
              <a:rPr sz="1300" b="0">
                <a:solidFill>
                  <a:srgbClr val="F5F1E8"/>
                </a:solidFill>
                <a:latin typeface="Aptos"/>
              </a:rPr>
              <a:t>Permission check stale</a:t>
            </a:r>
          </a:p>
          <a:p>
            <a:pPr algn="l"/>
            <a:r>
              <a:rPr sz="1300" b="0">
                <a:solidFill>
                  <a:srgbClr val="F5F1E8"/>
                </a:solidFill>
                <a:latin typeface="Aptos"/>
              </a:rPr>
              <a:t>Evidence export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645152"/>
            <a:ext cx="1234440" cy="274320"/>
          </a:xfrm>
          <a:prstGeom prst="round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4700016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D0B12"/>
                </a:solidFill>
                <a:latin typeface="Aptos"/>
              </a:rPr>
              <a:t>LOCAL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257800"/>
            <a:ext cx="6217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7E8D3"/>
                </a:solidFill>
                <a:latin typeface="Aptos"/>
              </a:rPr>
              <a:t>A transparent layer around Plan -&gt; Build -&gt;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7B0A6"/>
                </a:solidFill>
                <a:latin typeface="Aptos"/>
              </a:rPr>
              <a:t>RELEASEPROOF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739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0A6"/>
                </a:solidFill>
                <a:latin typeface="Aptos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7FF3C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F1E8"/>
                </a:solidFill>
                <a:latin typeface="Aptos"/>
              </a:rPr>
              <a:t>Green tests can still miss the business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B0A6"/>
                </a:solidFill>
                <a:latin typeface="Aptos"/>
              </a:rPr>
              <a:t>Teams can ship a passing build without proving the behavior that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7B0A6"/>
                </a:solidFill>
                <a:latin typeface="Aptos"/>
              </a:rPr>
              <a:t>WHAT TYPICAL RELEASE SIGNALS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95728"/>
            <a:ext cx="4114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5F1E8"/>
                </a:solidFill>
                <a:latin typeface="Aptos"/>
              </a:rPr>
              <a:t>✓ happy path passes</a:t>
            </a:r>
          </a:p>
          <a:p>
            <a:pPr algn="l"/>
            <a:r>
              <a:rPr sz="1800" b="0">
                <a:solidFill>
                  <a:srgbClr val="F5F1E8"/>
                </a:solidFill>
                <a:latin typeface="Aptos"/>
              </a:rPr>
              <a:t>✓ build is green</a:t>
            </a:r>
          </a:p>
          <a:p>
            <a:pPr algn="l"/>
            <a:r>
              <a:rPr sz="1800" b="0">
                <a:solidFill>
                  <a:srgbClr val="F5F1E8"/>
                </a:solidFill>
                <a:latin typeface="Aptos"/>
              </a:rPr>
              <a:t>✓ deployment is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5740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8066"/>
                </a:solidFill>
                <a:latin typeface="Aptos"/>
              </a:rPr>
              <a:t>WHAT THEY CAN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95728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5F1E8"/>
                </a:solidFill>
                <a:latin typeface="Aptos"/>
              </a:rPr>
              <a:t>× boundary equality</a:t>
            </a:r>
          </a:p>
          <a:p>
            <a:pPr algn="l"/>
            <a:r>
              <a:rPr sz="1800" b="0">
                <a:solidFill>
                  <a:srgbClr val="F5F1E8"/>
                </a:solidFill>
                <a:latin typeface="Aptos"/>
              </a:rPr>
              <a:t>× permission behavior</a:t>
            </a:r>
          </a:p>
          <a:p>
            <a:pPr algn="l"/>
            <a:r>
              <a:rPr sz="1800" b="0">
                <a:solidFill>
                  <a:srgbClr val="F5F1E8"/>
                </a:solidFill>
                <a:latin typeface="Aptos"/>
              </a:rPr>
              <a:t>× evidence invalidated by a change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977639"/>
            <a:ext cx="10725912" cy="0"/>
          </a:xfrm>
          <a:prstGeom prst="line">
            <a:avLst/>
          </a:prstGeom>
          <a:ln w="7620">
            <a:solidFill>
              <a:srgbClr val="B7B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43434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7FF3C"/>
                </a:solidFill>
                <a:latin typeface="Aptos"/>
              </a:rPr>
              <a:t>ReleaseProof makes the missing proof visible before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7492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B0A6"/>
                </a:solidFill>
                <a:latin typeface="Aptos"/>
              </a:rPr>
              <a:t>The product does not replace Copado. It makes the release decision explainable.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7B0A6"/>
                </a:solidFill>
                <a:latin typeface="Aptos"/>
              </a:rPr>
              <a:t>RELEASEPROOF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739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0A6"/>
                </a:solidFill>
                <a:latin typeface="Aptos"/>
              </a:rPr>
              <a:t>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7FF3C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5F1E8"/>
                </a:solidFill>
                <a:latin typeface="Aptos"/>
              </a:rPr>
              <a:t>US-247: lead routing at the equality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7FF3C"/>
                </a:solidFill>
                <a:latin typeface="Aptos"/>
              </a:rPr>
              <a:t>Business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Score greater than 80 -&gt; Senior Sales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Score 80 or below -&gt; Standard Sales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Only Sales Managers can override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7BFF"/>
                </a:solidFill>
                <a:latin typeface="Aptos"/>
              </a:rPr>
              <a:t>Existing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55648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60 -&gt; Standard Sales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100 -&gt; Senior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0332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066"/>
                </a:solidFill>
                <a:latin typeface="Aptos"/>
              </a:rPr>
              <a:t>Missing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04164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8066"/>
                </a:solidFill>
                <a:latin typeface="Aptos"/>
              </a:rPr>
              <a:t>The suite omits score = 80 and does not verify the override permission.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87375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7B0A6"/>
                </a:solidFill>
                <a:latin typeface="Aptos"/>
              </a:rPr>
              <a:t>That is the exact gap ReleaseProof surfaces.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7B0A6"/>
                </a:solidFill>
                <a:latin typeface="Aptos"/>
              </a:rPr>
              <a:t>RELEASEPROOF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739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0A6"/>
                </a:solidFill>
                <a:latin typeface="Aptos"/>
              </a:rPr>
              <a:t>LIVE DEMO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7FF3C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5F1E8"/>
                </a:solidFill>
                <a:latin typeface="Aptos"/>
              </a:rPr>
              <a:t>One change. One decision. A reason judges can see.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880360" cy="320040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7BFF"/>
                </a:solidFill>
                <a:latin typeface="Aptos"/>
              </a:rPr>
              <a:t>1  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87168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Evidence incomplete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/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The contract needs a boundary check.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834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7B0A6"/>
                </a:solidFill>
                <a:latin typeface="Apto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45920"/>
            <a:ext cx="2880360" cy="320040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9933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066"/>
                </a:solidFill>
                <a:latin typeface="Aptos"/>
              </a:rPr>
              <a:t>2 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487168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80 -&gt; Senior Sales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/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The modeled behavior fails the equality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28346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7B0A6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645920"/>
            <a:ext cx="2880360" cy="320040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9933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7FF3C"/>
                </a:solidFill>
                <a:latin typeface="Aptos"/>
              </a:rPr>
              <a:t>3  RE-RUN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487168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Evidence satisfied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/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The boundary fix closes the gap.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7E8D3"/>
                </a:solidFill>
                <a:latin typeface="Aptos"/>
              </a:rPr>
              <a:t>The screen recording follows this sequence in LOCAL DEMO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7B0A6"/>
                </a:solidFill>
                <a:latin typeface="Aptos"/>
              </a:rPr>
              <a:t>RELEASEPROOF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739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0A6"/>
                </a:solidFill>
                <a:latin typeface="Aptos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7FF3C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5F1E8"/>
                </a:solidFill>
                <a:latin typeface="Aptos"/>
              </a:rPr>
              <a:t>The evidence ledger keeps the release honest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7B0A6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Business contract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work item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target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57276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7B0A6"/>
                </a:solidFill>
                <a:latin typeface="Aptos"/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1901952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required checks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pass / fail / stale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reason for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57276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7B0A6"/>
                </a:solidFill>
                <a:latin typeface="Aptos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901952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satisfied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insufficient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needs new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40" y="2423160"/>
            <a:ext cx="731520" cy="0"/>
          </a:xfrm>
          <a:prstGeom prst="line">
            <a:avLst/>
          </a:prstGeom>
          <a:ln w="25400">
            <a:solidFill>
              <a:srgbClr val="B7F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2423160"/>
            <a:ext cx="777240" cy="0"/>
          </a:xfrm>
          <a:prstGeom prst="line">
            <a:avLst/>
          </a:prstGeom>
          <a:ln w="25400">
            <a:solidFill>
              <a:srgbClr val="B7F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" y="4041648"/>
            <a:ext cx="9875520" cy="105156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1596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7FF3C"/>
                </a:solidFill>
                <a:latin typeface="Aptos"/>
              </a:rPr>
              <a:t>Exportable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297680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1E8"/>
                </a:solidFill>
                <a:latin typeface="Aptos"/>
              </a:rPr>
              <a:t>Every decision carries its checks, evidence version, assumptions, and limitations.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7B0A6"/>
                </a:solidFill>
                <a:latin typeface="Aptos"/>
              </a:rPr>
              <a:t>RELEASEPROOF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739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0A6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7FF3C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5F1E8"/>
                </a:solidFill>
                <a:latin typeface="Aptos"/>
              </a:rPr>
              <a:t>A local-first engine with a live Copado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971800" cy="352044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7FF3C"/>
                </a:solidFill>
                <a:latin typeface="Aptos"/>
              </a:rPr>
              <a:t>RELEASEPROOF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React / Next.js PWA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FastAPI backend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Deterministic evidence engine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Exportable JSON ledger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1645920"/>
            <a:ext cx="2971800" cy="352044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7" y="196596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7BFF"/>
                </a:solidFill>
                <a:latin typeface="Aptos"/>
              </a:rPr>
              <a:t>AGENTIA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7" y="242316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CLI capability probe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CICD work item context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Local quality gates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CRT build polling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645920"/>
            <a:ext cx="2971800" cy="352044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196596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7E8D3"/>
                </a:solidFill>
                <a:latin typeface="Aptos"/>
              </a:rPr>
              <a:t>COPADO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42316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Pipelines and work items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Salesforce environments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Copado Robotic Testing</a:t>
            </a:r>
          </a:p>
          <a:p>
            <a:pPr algn="l"/>
            <a:r>
              <a:rPr sz="1700" b="0">
                <a:solidFill>
                  <a:srgbClr val="F5F1E8"/>
                </a:solidFill>
                <a:latin typeface="Aptos"/>
              </a:rPr>
              <a:t>AI and org context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3383280"/>
            <a:ext cx="768096" cy="0"/>
          </a:xfrm>
          <a:prstGeom prst="line">
            <a:avLst/>
          </a:prstGeom>
          <a:ln w="25400">
            <a:solidFill>
              <a:srgbClr val="B7F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3383280"/>
            <a:ext cx="777240" cy="0"/>
          </a:xfrm>
          <a:prstGeom prst="line">
            <a:avLst/>
          </a:prstGeom>
          <a:ln w="25400">
            <a:solidFill>
              <a:srgbClr val="B7F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559612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B0A6"/>
                </a:solidFill>
                <a:latin typeface="Aptos"/>
              </a:rPr>
              <a:t>Local mode is fully reproducible. Live mode activates when the Copado organization is connected.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7B0A6"/>
                </a:solidFill>
                <a:latin typeface="Aptos"/>
              </a:rPr>
              <a:t>RELEASEPROOF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739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0A6"/>
                </a:solidFill>
                <a:latin typeface="Aptos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7FF3C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F1E8"/>
                </a:solidFill>
                <a:latin typeface="Aptos"/>
              </a:rPr>
              <a:t>The novelty is the decision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B0A6"/>
                </a:solidFill>
                <a:latin typeface="Aptos"/>
              </a:rPr>
              <a:t>ReleaseProof adds the missing connection between intent and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B7FF3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21408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1E8"/>
                </a:solidFill>
                <a:latin typeface="Aptos"/>
              </a:rPr>
              <a:t>Business-aware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146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7B0A6"/>
                </a:solidFill>
                <a:latin typeface="Aptos"/>
              </a:rPr>
              <a:t>Tests map back to the contract, not only to code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3756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9B7B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355848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1E8"/>
                </a:solidFill>
                <a:latin typeface="Aptos"/>
              </a:rPr>
              <a:t>Evidence has a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4903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7B0A6"/>
                </a:solidFill>
                <a:latin typeface="Aptos"/>
              </a:rPr>
              <a:t>A change can make yesterday's proof stale.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806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121408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1E8"/>
                </a:solidFill>
                <a:latin typeface="Aptos"/>
              </a:rPr>
              <a:t>Explainable release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5146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7B0A6"/>
                </a:solidFill>
                <a:latin typeface="Aptos"/>
              </a:rPr>
              <a:t>The decision includes the reason and the next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3756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67E8D3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3355848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1E8"/>
                </a:solidFill>
                <a:latin typeface="Aptos"/>
              </a:rPr>
              <a:t>Local-first, integration-ready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374903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7B0A6"/>
                </a:solidFill>
                <a:latin typeface="Aptos"/>
              </a:rPr>
              <a:t>Teams can prove behavior before credentials are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7B0A6"/>
                </a:solidFill>
                <a:latin typeface="Aptos"/>
              </a:rPr>
              <a:t>RELEASEPROOF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739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0A6"/>
                </a:solidFill>
                <a:latin typeface="Aptos"/>
              </a:rPr>
              <a:t>AGENTIA HEADLESS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7FF3C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5F1E8"/>
                </a:solidFill>
                <a:latin typeface="Aptos"/>
              </a:rPr>
              <a:t>ReleaseProof turns Agentia commands into release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B0A6"/>
                </a:solidFill>
                <a:latin typeface="Aptos"/>
              </a:rPr>
              <a:t>The CLI is the control surface. ReleaseProof is the decision layer around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331720" cy="256032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7BFF"/>
                </a:solidFill>
                <a:latin typeface="Aptos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06040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1E8"/>
                </a:solidFill>
                <a:latin typeface="Aptos"/>
              </a:rPr>
              <a:t>agentia cicd work 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56432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0A6"/>
                </a:solidFill>
                <a:latin typeface="Aptos"/>
              </a:rPr>
              <a:t>Create a work item from release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26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B7B0A6"/>
                </a:solidFill>
                <a:latin typeface="Aptos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331720" cy="256032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219456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7E8D3"/>
                </a:solidFill>
                <a:latin typeface="Apto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606040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1E8"/>
                </a:solidFill>
                <a:latin typeface="Aptos"/>
              </a:rPr>
              <a:t>git commit -am "feat: fix routing"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3456432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0A6"/>
                </a:solidFill>
                <a:latin typeface="Aptos"/>
              </a:rPr>
              <a:t>Keep the change traceable in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79" y="2926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B7B0A6"/>
                </a:solidFill>
                <a:latin typeface="Aptos"/>
              </a:rP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20240"/>
            <a:ext cx="2331720" cy="256032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219456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066"/>
                </a:solidFill>
                <a:latin typeface="Aptos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2606040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1E8"/>
                </a:solidFill>
                <a:latin typeface="Aptos"/>
              </a:rPr>
              <a:t>agentia cicd work test --local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456432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0A6"/>
                </a:solidFill>
                <a:latin typeface="Aptos"/>
              </a:rPr>
              <a:t>Run local quality gates before promotion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926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B7B0A6"/>
                </a:solidFill>
                <a:latin typeface="Aptos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59" y="1920240"/>
            <a:ext cx="2331720" cy="256032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19456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7FF3C"/>
                </a:solidFill>
                <a:latin typeface="Aptos"/>
              </a:rPr>
              <a:t>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606040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1E8"/>
                </a:solidFill>
                <a:latin typeface="Aptos"/>
              </a:rPr>
              <a:t>releaseproof evidence 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456432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B0A6"/>
                </a:solidFill>
                <a:latin typeface="Aptos"/>
              </a:rPr>
              <a:t>Map results to the business contract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83480"/>
            <a:ext cx="10104120" cy="658368"/>
          </a:xfrm>
          <a:prstGeom prst="roundRect">
            <a:avLst/>
          </a:prstGeom>
          <a:solidFill>
            <a:srgbClr val="1E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193792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8"/>
                </a:solidFill>
                <a:latin typeface="Aptos"/>
              </a:rPr>
              <a:t>Built in this project: Agentia CLI adapter, capability probes, local quality-gate path, CRT build polling, and a dry-run trace for the demo.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7B0A6"/>
                </a:solidFill>
                <a:latin typeface="Aptos"/>
              </a:rPr>
              <a:t>RELEASEPROOF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739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0A6"/>
                </a:solidFill>
                <a:latin typeface="Aptos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7FF3C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F1E8"/>
                </a:solidFill>
                <a:latin typeface="Aptos"/>
              </a:rPr>
              <a:t>The business case is fewer blind releases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B0A6"/>
                </a:solidFill>
                <a:latin typeface="Aptos"/>
              </a:rPr>
              <a:t>ReleaseProof creates value before and after a deployment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2880360" cy="242316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066"/>
                </a:solidFill>
                <a:latin typeface="Aptos"/>
              </a:rPr>
              <a:t>BEFORE 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33472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5F1E8"/>
                </a:solidFill>
                <a:latin typeface="Aptos"/>
              </a:rPr>
              <a:t>Less manual evidence hunting</a:t>
            </a:r>
          </a:p>
          <a:p>
            <a:pPr algn="l"/>
            <a:r>
              <a:rPr sz="1600" b="0">
                <a:solidFill>
                  <a:srgbClr val="F5F1E8"/>
                </a:solidFill>
                <a:latin typeface="Aptos"/>
              </a:rPr>
              <a:t>Fewer missed boundary cases</a:t>
            </a:r>
          </a:p>
          <a:p>
            <a:pPr algn="l"/>
            <a:r>
              <a:rPr sz="1600" b="0">
                <a:solidFill>
                  <a:srgbClr val="F5F1E8"/>
                </a:solidFill>
                <a:latin typeface="Aptos"/>
              </a:rPr>
              <a:t>Faster go / no-go reviews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874519"/>
            <a:ext cx="2880360" cy="242316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14884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B7BFF"/>
                </a:solidFill>
                <a:latin typeface="Aptos"/>
              </a:rPr>
              <a:t>DURING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33472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5F1E8"/>
                </a:solidFill>
                <a:latin typeface="Aptos"/>
              </a:rPr>
              <a:t>One explainable decision</a:t>
            </a:r>
          </a:p>
          <a:p>
            <a:pPr algn="l"/>
            <a:r>
              <a:rPr sz="1600" b="0">
                <a:solidFill>
                  <a:srgbClr val="F5F1E8"/>
                </a:solidFill>
                <a:latin typeface="Aptos"/>
              </a:rPr>
              <a:t>Stale evidence is visible</a:t>
            </a:r>
          </a:p>
          <a:p>
            <a:pPr algn="l"/>
            <a:r>
              <a:rPr sz="1600" b="0">
                <a:solidFill>
                  <a:srgbClr val="F5F1E8"/>
                </a:solidFill>
                <a:latin typeface="Aptos"/>
              </a:rPr>
              <a:t>Agentia checks stay traceable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874519"/>
            <a:ext cx="2880360" cy="2423160"/>
          </a:xfrm>
          <a:prstGeom prst="roundRect">
            <a:avLst/>
          </a:prstGeom>
          <a:solidFill>
            <a:srgbClr val="0D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14884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7FF3C"/>
                </a:solidFill>
                <a:latin typeface="Aptos"/>
              </a:rPr>
              <a:t>AFTER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633472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5F1E8"/>
                </a:solidFill>
                <a:latin typeface="Aptos"/>
              </a:rPr>
              <a:t>Incident patterns become checks</a:t>
            </a:r>
          </a:p>
          <a:p>
            <a:pPr algn="l"/>
            <a:r>
              <a:rPr sz="1600" b="0">
                <a:solidFill>
                  <a:srgbClr val="F5F1E8"/>
                </a:solidFill>
                <a:latin typeface="Aptos"/>
              </a:rPr>
              <a:t>Audit trail is exportable</a:t>
            </a:r>
          </a:p>
          <a:p>
            <a:pPr algn="l"/>
            <a:r>
              <a:rPr sz="1600" b="0">
                <a:solidFill>
                  <a:srgbClr val="F5F1E8"/>
                </a:solidFill>
                <a:latin typeface="Aptos"/>
              </a:rPr>
              <a:t>Learning feeds the next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7E8D3"/>
                </a:solidFill>
                <a:latin typeface="Aptos"/>
              </a:rPr>
              <a:t>ROI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855464"/>
            <a:ext cx="8869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1E8"/>
                </a:solidFill>
                <a:latin typeface="Aptos"/>
              </a:rPr>
              <a:t>ROI = avoided escaped defects + reduced triage time + faster evidence collection - operating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76672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7B0A6"/>
                </a:solidFill>
                <a:latin typeface="Aptos"/>
              </a:rPr>
              <a:t>Teams can plug in their own incident cost, release volume, and QA hours. No invented benchmark is required to measure the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7B0A6"/>
                </a:solidFill>
                <a:latin typeface="Aptos"/>
              </a:rPr>
              <a:t>RELEASEPROOF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739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B7B0A6"/>
                </a:solidFill>
                <a:latin typeface="Aptos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7FF3C"/>
                </a:solidFill>
                <a:latin typeface="Aptos"/>
              </a:rPr>
              <a:t>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6583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F1E8"/>
                </a:solidFill>
                <a:latin typeface="Aptos"/>
              </a:rPr>
              <a:t>Ship with evidence,</a:t>
            </a:r>
          </a:p>
          <a:p>
            <a:pPr algn="l"/>
            <a:r>
              <a:rPr sz="3000" b="1">
                <a:solidFill>
                  <a:srgbClr val="F5F1E8"/>
                </a:solidFill>
                <a:latin typeface="Aptos"/>
              </a:rPr>
              <a:t>not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060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7FF3C"/>
                </a:solidFill>
                <a:latin typeface="Aptos"/>
              </a:rPr>
              <a:t>ReleaseProof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7B0A6"/>
                </a:solidFill>
                <a:latin typeface="Aptos"/>
              </a:rPr>
              <a:t>A practical release intelligence layer for Copado Agentia.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234440"/>
            <a:ext cx="3200400" cy="3200400"/>
          </a:xfrm>
          <a:prstGeom prst="roundRect">
            <a:avLst/>
          </a:prstGeom>
          <a:solidFill>
            <a:srgbClr val="B7F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8" y="1627632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D0B12"/>
                </a:solidFill>
                <a:latin typeface="Aptos"/>
              </a:rPr>
              <a:t>JUDGE</a:t>
            </a:r>
          </a:p>
          <a:p>
            <a:pPr algn="l"/>
            <a:r>
              <a:rPr sz="1200" b="1">
                <a:solidFill>
                  <a:srgbClr val="0D0B12"/>
                </a:solidFill>
                <a:latin typeface="Aptos"/>
              </a:rP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2423160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0B12"/>
                </a:solidFill>
                <a:latin typeface="Aptos"/>
              </a:rPr>
              <a:t>Did we prove</a:t>
            </a:r>
          </a:p>
          <a:p>
            <a:pPr algn="l"/>
            <a:r>
              <a:rPr sz="2200" b="1">
                <a:solidFill>
                  <a:srgbClr val="0D0B12"/>
                </a:solidFill>
                <a:latin typeface="Aptos"/>
              </a:rPr>
              <a:t>the contract?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7E8D3"/>
                </a:solidFill>
                <a:latin typeface="Aptos"/>
              </a:rPr>
              <a:t>Demo: localhost:3000</a:t>
            </a:r>
          </a:p>
          <a:p>
            <a:pPr algn="l"/>
            <a:r>
              <a:rPr sz="1300" b="0">
                <a:solidFill>
                  <a:srgbClr val="67E8D3"/>
                </a:solidFill>
                <a:latin typeface="Aptos"/>
              </a:rPr>
              <a:t>Mode: LOCAL DEMO</a:t>
            </a:r>
          </a:p>
          <a:p>
            <a:pPr algn="l"/>
            <a:r>
              <a:rPr sz="1300" b="0">
                <a:solidFill>
                  <a:srgbClr val="67E8D3"/>
                </a:solidFill>
                <a:latin typeface="Aptos"/>
              </a:rPr>
              <a:t>Agentia adapter: integrated and ready for org credentials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5120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1E8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